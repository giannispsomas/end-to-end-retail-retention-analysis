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Lifetime revenue per customer (£)</c:v>
                </c:pt>
              </c:strCache>
            </c:strRef>
          </c:tx>
          <c:spPr>
            <a:solidFill>
              <a:srgbClr val="1F3864"/>
            </a:solidFill>
          </c:spPr>
          <c:invertIfNegative val="0"/>
          <c:cat>
            <c:strRef>
              <c:f>Sheet1!$A$2:$A$3</c:f>
              <c:strCache>
                <c:ptCount val="2"/>
                <c:pt idx="0">
                  <c:v>Repeat customers (4,234)</c:v>
                </c:pt>
                <c:pt idx="1">
                  <c:v>One-time customers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3900</c:v>
                </c:pt>
                <c:pt idx="1">
                  <c:v>344</c:v>
                </c:pt>
              </c:numCache>
            </c:numRef>
          </c:val>
        </c:ser>
        <c:dLbls>
          <c:numFmt formatCode="£#,##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numFmt formatCode="£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6262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Past spend of churned customers (£M)</c:v>
                </c:pt>
              </c:strCache>
            </c:strRef>
          </c:tx>
          <c:spPr>
            <a:solidFill>
              <a:srgbClr val="C55A11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Core / Average</c:v>
                </c:pt>
                <c:pt idx="1">
                  <c:v>Lost</c:v>
                </c:pt>
                <c:pt idx="2">
                  <c:v>Other segments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1.76</c:v>
                </c:pt>
                <c:pt idx="1">
                  <c:v>1.44</c:v>
                </c:pt>
                <c:pt idx="2">
                  <c:v>0.1</c:v>
                </c:pt>
              </c:numCache>
            </c:numRef>
          </c:val>
        </c:ser>
        <c:dLbls>
          <c:numFmt formatCode="£0.00&quot;M&quot;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numFmt formatCode="£0.00&quot;M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6262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question: sales look steady, but is the business leaning on customers who are quietly leaving? The data is the public Online Retail II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headline. Be clear that Revenue at Risk is historical spend, not a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Lifetime revenue per customer is approximate: about £3,900 for a repeat customer against about £344 for a one-time buyer.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Cohort retention from T-SQL. The final month, December 2011, is partial.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Segments come from RFM and K-Means (k=4). The churn rule is 90 days without a purchase. The other segments hold the remaining £0.10M.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judgement calls and none has been tested. A held-out group is the way to measure the win-back.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90-day rule can mislabel seasonal buyers, so the real figure at risk is probably lower than £3.30M.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822960" y="192024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Where does the revenue come from, and how much of it is at risk?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822960" y="36576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D9E2F3"/>
                </a:solidFill>
                <a:latin typeface="Calibri"/>
              </a:rPr>
              <a:t>A retention analysis of a UK online retailer</a:t>
            </a:r>
          </a:p>
        </p:txBody>
      </p:sp>
      <p:sp>
        <p:nvSpPr>
          <p:cNvPr id="4" name="Author"/>
          <p:cNvSpPr txBox="1"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Giannis Psomas</a:t>
            </a:r>
          </a:p>
          <a:p>
            <a:pPr algn="l">
              <a:spcBef>
                <a:spcPts val="800"/>
              </a:spcBef>
            </a:pPr>
            <a:r>
              <a:rPr sz="1600" b="0" i="0">
                <a:solidFill>
                  <a:srgbClr val="FFFFFF"/>
                </a:solidFill>
                <a:latin typeface="Calibri"/>
              </a:rPr>
              <a:t>SQL Server · Python · Power BI. 1M+ transactions, 5,852 identified customers, December 2009 to December 2011.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40080" y="41148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3864"/>
                </a:solidFill>
                <a:latin typeface="Calibri"/>
              </a:rPr>
              <a:t>Repeat customers are the business, and half of the customers have gone quiet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737360"/>
            <a:ext cx="3474720" cy="17373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"/>
          <p:cNvSpPr txBox="1"/>
          <p:nvPr/>
        </p:nvSpPr>
        <p:spPr>
          <a:xfrm>
            <a:off x="914400" y="1965960"/>
            <a:ext cx="29260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1F3864"/>
                </a:solidFill>
                <a:latin typeface="Calibri"/>
              </a:rPr>
              <a:t>97%</a:t>
            </a:r>
          </a:p>
        </p:txBody>
      </p:sp>
      <p:sp>
        <p:nvSpPr>
          <p:cNvPr id="5" name="Stat label"/>
          <p:cNvSpPr txBox="1"/>
          <p:nvPr/>
        </p:nvSpPr>
        <p:spPr>
          <a:xfrm>
            <a:off x="914400" y="2788920"/>
            <a:ext cx="2926079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Calibri"/>
              </a:rPr>
              <a:t>of revenue comes from the 72% of customers who reorder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61688" y="1737360"/>
            <a:ext cx="3474720" cy="17373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at"/>
          <p:cNvSpPr txBox="1"/>
          <p:nvPr/>
        </p:nvSpPr>
        <p:spPr>
          <a:xfrm>
            <a:off x="4636007" y="1965960"/>
            <a:ext cx="29260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C55A11"/>
                </a:solidFill>
                <a:latin typeface="Calibri"/>
              </a:rPr>
              <a:t>51%</a:t>
            </a:r>
          </a:p>
        </p:txBody>
      </p:sp>
      <p:sp>
        <p:nvSpPr>
          <p:cNvPr id="8" name="Stat label"/>
          <p:cNvSpPr txBox="1"/>
          <p:nvPr/>
        </p:nvSpPr>
        <p:spPr>
          <a:xfrm>
            <a:off x="4636007" y="2788920"/>
            <a:ext cx="2926079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Calibri"/>
              </a:rPr>
              <a:t>of identified customers have not bought for 90+ days, holding £3.30M of past spend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3296" y="1737360"/>
            <a:ext cx="3474720" cy="17373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"/>
          <p:cNvSpPr txBox="1"/>
          <p:nvPr/>
        </p:nvSpPr>
        <p:spPr>
          <a:xfrm>
            <a:off x="8357616" y="1965960"/>
            <a:ext cx="29260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1F3864"/>
                </a:solidFill>
                <a:latin typeface="Calibri"/>
              </a:rPr>
              <a:t>57 days</a:t>
            </a:r>
          </a:p>
        </p:txBody>
      </p:sp>
      <p:sp>
        <p:nvSpPr>
          <p:cNvPr id="11" name="Stat label"/>
          <p:cNvSpPr txBox="1"/>
          <p:nvPr/>
        </p:nvSpPr>
        <p:spPr>
          <a:xfrm>
            <a:off x="8357616" y="2788920"/>
            <a:ext cx="2926079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Calibri"/>
              </a:rPr>
              <a:t>median time to a second order; only 31% of repeat customers return within 30 days</a:t>
            </a:r>
          </a:p>
        </p:txBody>
      </p:sp>
      <p:sp>
        <p:nvSpPr>
          <p:cNvPr id="12" name="Bottom line"/>
          <p:cNvSpPr txBox="1"/>
          <p:nvPr/>
        </p:nvSpPr>
        <p:spPr>
          <a:xfrm>
            <a:off x="640080" y="3931920"/>
            <a:ext cx="108813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262626"/>
                </a:solidFill>
                <a:latin typeface="Calibri"/>
              </a:rPr>
              <a:t>The cheapest place to act is the gap between a customer's first and second order.</a:t>
            </a:r>
          </a:p>
          <a:p>
            <a:pPr algn="l">
              <a:spcBef>
                <a:spcPts val="800"/>
              </a:spcBef>
            </a:pPr>
            <a:r>
              <a:rPr sz="1800" b="0" i="0">
                <a:solidFill>
                  <a:srgbClr val="262626"/>
                </a:solidFill>
                <a:latin typeface="Calibri"/>
              </a:rPr>
              <a:t>The £3.30M is past spend of churned customers. It is not a forecast of what a campaign would recover.</a:t>
            </a:r>
          </a:p>
          <a:p>
            <a:pPr algn="l">
              <a:spcBef>
                <a:spcPts val="800"/>
              </a:spcBef>
            </a:pPr>
            <a:r>
              <a:rPr sz="1800" b="0" i="0">
                <a:solidFill>
                  <a:srgbClr val="262626"/>
                </a:solidFill>
                <a:latin typeface="Calibri"/>
              </a:rPr>
              <a:t>Revenue is also concentrated: the UK is 85.5% of sales, September to November is 29% of the year, and 42 customers hold 27% of identified revenue.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F7F7F"/>
                </a:solidFill>
                <a:latin typeface="Calibri"/>
              </a:rPr>
              <a:t>End-To-End Retail Retention Analysis</a:t>
            </a:r>
          </a:p>
        </p:txBody>
      </p:sp>
      <p:sp>
        <p:nvSpPr>
          <p:cNvPr id="14" name="Slide number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F7F7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40080" y="41148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3864"/>
                </a:solidFill>
                <a:latin typeface="Calibri"/>
              </a:rPr>
              <a:t>A repeat customer is worth about eleven times a one-time buyer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600200"/>
          <a:ext cx="694944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955279" y="1691640"/>
            <a:ext cx="3611880" cy="429768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tes"/>
          <p:cNvSpPr txBox="1"/>
          <p:nvPr/>
        </p:nvSpPr>
        <p:spPr>
          <a:xfrm>
            <a:off x="8229600" y="1920240"/>
            <a:ext cx="310896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4,234 repeat customers (72%) generate £16.51M of the revenue (97%).</a:t>
            </a:r>
          </a:p>
          <a:p>
            <a:pPr algn="l">
              <a:spcBef>
                <a:spcPts val="800"/>
              </a:spcBef>
            </a:pPr>
            <a:r>
              <a:rPr sz="1600" b="0" i="0">
                <a:solidFill>
                  <a:srgbClr val="262626"/>
                </a:solidFill>
                <a:latin typeface="Calibri"/>
              </a:rPr>
              <a:t>About 28% of first-time buyers never reorder.</a:t>
            </a:r>
          </a:p>
          <a:p>
            <a:pPr algn="l">
              <a:spcBef>
                <a:spcPts val="800"/>
              </a:spcBef>
            </a:pPr>
            <a:r>
              <a:rPr sz="1600" b="0" i="0">
                <a:solidFill>
                  <a:srgbClr val="262626"/>
                </a:solidFill>
                <a:latin typeface="Calibri"/>
              </a:rPr>
              <a:t>Guest checkouts (13.1% of revenue) are left out of every customer-level number.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F7F7F"/>
                </a:solidFill>
                <a:latin typeface="Calibri"/>
              </a:rPr>
              <a:t>End-To-End Retail Retention Analysis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F7F7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40080" y="41148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3864"/>
                </a:solidFill>
                <a:latin typeface="Calibri"/>
              </a:rPr>
              <a:t>Retention peaks early and then erodes, with a strong autumn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73736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"/>
          <p:cNvSpPr txBox="1"/>
          <p:nvPr/>
        </p:nvSpPr>
        <p:spPr>
          <a:xfrm>
            <a:off x="914400" y="1965960"/>
            <a:ext cx="29260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1F3864"/>
                </a:solidFill>
                <a:latin typeface="Calibri"/>
              </a:rPr>
              <a:t>22%</a:t>
            </a:r>
          </a:p>
        </p:txBody>
      </p:sp>
      <p:sp>
        <p:nvSpPr>
          <p:cNvPr id="5" name="Stat label"/>
          <p:cNvSpPr txBox="1"/>
          <p:nvPr/>
        </p:nvSpPr>
        <p:spPr>
          <a:xfrm>
            <a:off x="914400" y="2788920"/>
            <a:ext cx="2926079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Calibri"/>
              </a:rPr>
              <a:t>of a cohort orders again in month 2, falling to about 18% by month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61688" y="173736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at"/>
          <p:cNvSpPr txBox="1"/>
          <p:nvPr/>
        </p:nvSpPr>
        <p:spPr>
          <a:xfrm>
            <a:off x="4636007" y="1965960"/>
            <a:ext cx="29260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C55A11"/>
                </a:solidFill>
                <a:latin typeface="Calibri"/>
              </a:rPr>
              <a:t>28%</a:t>
            </a:r>
          </a:p>
        </p:txBody>
      </p:sp>
      <p:sp>
        <p:nvSpPr>
          <p:cNvPr id="8" name="Stat label"/>
          <p:cNvSpPr txBox="1"/>
          <p:nvPr/>
        </p:nvSpPr>
        <p:spPr>
          <a:xfrm>
            <a:off x="4636007" y="2788920"/>
            <a:ext cx="2926079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Calibri"/>
              </a:rPr>
              <a:t>of cohorts return in November, 24% in October, against 13% in January and February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3296" y="173736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"/>
          <p:cNvSpPr txBox="1"/>
          <p:nvPr/>
        </p:nvSpPr>
        <p:spPr>
          <a:xfrm>
            <a:off x="8357616" y="1965960"/>
            <a:ext cx="29260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1F3864"/>
                </a:solidFill>
                <a:latin typeface="Calibri"/>
              </a:rPr>
              <a:t>589</a:t>
            </a:r>
          </a:p>
        </p:txBody>
      </p:sp>
      <p:sp>
        <p:nvSpPr>
          <p:cNvPr id="11" name="Stat label"/>
          <p:cNvSpPr txBox="1"/>
          <p:nvPr/>
        </p:nvSpPr>
        <p:spPr>
          <a:xfrm>
            <a:off x="8357616" y="2788920"/>
            <a:ext cx="2926079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Calibri"/>
              </a:rPr>
              <a:t>customers lapsed 91 to 180 days ago: the most recoverable group (£1.01M of past spend)</a:t>
            </a:r>
          </a:p>
        </p:txBody>
      </p:sp>
      <p:sp>
        <p:nvSpPr>
          <p:cNvPr id="12" name="Details"/>
          <p:cNvSpPr txBox="1"/>
          <p:nvPr/>
        </p:nvSpPr>
        <p:spPr>
          <a:xfrm>
            <a:off x="640080" y="4434840"/>
            <a:ext cx="108813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262626"/>
                </a:solidFill>
                <a:latin typeface="Calibri"/>
              </a:rPr>
              <a:t>Monthly cohorts were built in T-SQL with CTEs and window functions.</a:t>
            </a:r>
          </a:p>
          <a:p>
            <a:pPr algn="l">
              <a:spcBef>
                <a:spcPts val="800"/>
              </a:spcBef>
            </a:pPr>
            <a:r>
              <a:rPr sz="1800" b="0" i="0">
                <a:solidFill>
                  <a:srgbClr val="262626"/>
                </a:solidFill>
                <a:latin typeface="Calibri"/>
              </a:rPr>
              <a:t>The first cohort (December 2009) retains 33% to 50%, so figures from month 6 onwards are indicative.</a:t>
            </a:r>
          </a:p>
          <a:p>
            <a:pPr algn="l">
              <a:spcBef>
                <a:spcPts val="800"/>
              </a:spcBef>
            </a:pPr>
            <a:r>
              <a:rPr sz="1800" b="0" i="0">
                <a:solidFill>
                  <a:srgbClr val="262626"/>
                </a:solidFill>
                <a:latin typeface="Calibri"/>
              </a:rPr>
              <a:t>The rise at month 12 is seasonal. It does not mean customers return after a year.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F7F7F"/>
                </a:solidFill>
                <a:latin typeface="Calibri"/>
              </a:rPr>
              <a:t>End-To-End Retail Retention Analysis</a:t>
            </a:r>
          </a:p>
        </p:txBody>
      </p:sp>
      <p:sp>
        <p:nvSpPr>
          <p:cNvPr id="14" name="Slide number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F7F7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40080" y="41148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3864"/>
                </a:solidFill>
                <a:latin typeface="Calibri"/>
              </a:rPr>
              <a:t>Most of the revenue at risk is not in the "Lost" segment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600200"/>
          <a:ext cx="694944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955279" y="1691640"/>
            <a:ext cx="3611880" cy="429768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tes"/>
          <p:cNvSpPr txBox="1"/>
          <p:nvPr/>
        </p:nvSpPr>
        <p:spPr>
          <a:xfrm>
            <a:off x="8229600" y="1920240"/>
            <a:ext cx="310896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2,967 customers (51%) have not bought for 90+ days and hold £3.30M.</a:t>
            </a:r>
          </a:p>
          <a:p>
            <a:pPr algn="l">
              <a:spcBef>
                <a:spcPts val="800"/>
              </a:spcBef>
            </a:pPr>
            <a:r>
              <a:rPr sz="1600" b="0" i="0">
                <a:solidFill>
                  <a:srgbClr val="262626"/>
                </a:solidFill>
                <a:latin typeface="Calibri"/>
              </a:rPr>
              <a:t>Core / Average customers hold £1.76M (53%), the Lost segment £1.44M (43%).</a:t>
            </a:r>
          </a:p>
          <a:p>
            <a:pPr algn="l">
              <a:spcBef>
                <a:spcPts val="800"/>
              </a:spcBef>
            </a:pPr>
            <a:r>
              <a:rPr sz="1600" b="0" i="0">
                <a:solidFill>
                  <a:srgbClr val="262626"/>
                </a:solidFill>
                <a:latin typeface="Calibri"/>
              </a:rPr>
              <a:t>Outreach aimed only at "Lost" customers would miss more than half of it.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F7F7F"/>
                </a:solidFill>
                <a:latin typeface="Calibri"/>
              </a:rPr>
              <a:t>End-To-End Retail Retention Analysis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F7F7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40080" y="41148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3864"/>
                </a:solidFill>
                <a:latin typeface="Calibri"/>
              </a:rPr>
              <a:t>What I would do, ranked by revenue at stake and ease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91640"/>
            <a:ext cx="10927080" cy="443484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ommendations"/>
          <p:cNvSpPr txBox="1"/>
          <p:nvPr/>
        </p:nvSpPr>
        <p:spPr>
          <a:xfrm>
            <a:off x="914400" y="1920240"/>
            <a:ext cx="104241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262626"/>
                </a:solidFill>
                <a:latin typeface="Calibri"/>
              </a:rPr>
              <a:t>1. Follow up new customers at day 30, before the median second order at day 57. Track second-order conversion within 60 days.</a:t>
            </a:r>
          </a:p>
          <a:p>
            <a:pPr algn="l">
              <a:spcBef>
                <a:spcPts val="800"/>
              </a:spcBef>
            </a:pPr>
            <a:r>
              <a:rPr sz="1800" b="0" i="0">
                <a:solidFill>
                  <a:srgbClr val="262626"/>
                </a:solidFill>
                <a:latin typeface="Calibri"/>
              </a:rPr>
              <a:t>2. Assign account management to the 42 top accounts (£4.61M of past spend). Track their order frequency and spend.</a:t>
            </a:r>
          </a:p>
          <a:p>
            <a:pPr algn="l">
              <a:spcBef>
                <a:spcPts val="800"/>
              </a:spcBef>
            </a:pPr>
            <a:r>
              <a:rPr sz="1800" b="0" i="0">
                <a:solidFill>
                  <a:srgbClr val="262626"/>
                </a:solidFill>
                <a:latin typeface="Calibri"/>
              </a:rPr>
              <a:t>3. Win back lapsed customers, highest value first: the top 100 churned Core / Average customers (£0.88M), then the 589 who lapsed 91 to 180 days ago (£1.01M). Measure against a group that is not contacted.</a:t>
            </a:r>
          </a:p>
          <a:p>
            <a:pPr algn="l">
              <a:spcBef>
                <a:spcPts val="800"/>
              </a:spcBef>
            </a:pPr>
            <a:r>
              <a:rPr sz="1800" b="0" i="0">
                <a:solidFill>
                  <a:srgbClr val="262626"/>
                </a:solidFill>
                <a:latin typeface="Calibri"/>
              </a:rPr>
              <a:t>4. Add a loyalty or replenishment nudge in months 2 to 3, ahead of the autumn peak.</a:t>
            </a:r>
          </a:p>
          <a:p>
            <a:pPr algn="l">
              <a:spcBef>
                <a:spcPts val="800"/>
              </a:spcBef>
            </a:pPr>
            <a:r>
              <a:rPr sz="1800" b="0" i="0">
                <a:solidFill>
                  <a:srgbClr val="262626"/>
                </a:solidFill>
                <a:latin typeface="Calibri"/>
              </a:rPr>
              <a:t>5. Reduce reliance on the UK and on Q4.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F7F7F"/>
                </a:solidFill>
                <a:latin typeface="Calibri"/>
              </a:rPr>
              <a:t>End-To-End Retail Retention Analysis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F7F7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40080" y="41148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3864"/>
                </a:solidFill>
                <a:latin typeface="Calibri"/>
              </a:rPr>
              <a:t>How much to trust this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91640"/>
            <a:ext cx="5394960" cy="443484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ing"/>
          <p:cNvSpPr txBox="1"/>
          <p:nvPr/>
        </p:nvSpPr>
        <p:spPr>
          <a:xfrm>
            <a:off x="914400" y="1874519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F3864"/>
                </a:solidFill>
                <a:latin typeface="Calibri"/>
              </a:rPr>
              <a:t>What the numbers are</a:t>
            </a:r>
          </a:p>
        </p:txBody>
      </p:sp>
      <p:sp>
        <p:nvSpPr>
          <p:cNvPr id="5" name="Numbers"/>
          <p:cNvSpPr txBox="1"/>
          <p:nvPr/>
        </p:nvSpPr>
        <p:spPr>
          <a:xfrm>
            <a:off x="914400" y="2377440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262626"/>
                </a:solidFill>
                <a:latin typeface="Calibri"/>
              </a:rPr>
              <a:t>The churn score (ROC-AUC 0.77) ranks who looks like a lapsed customer today. It is not a forecast.</a:t>
            </a:r>
          </a:p>
          <a:p>
            <a:pPr algn="l">
              <a:spcBef>
                <a:spcPts val="800"/>
              </a:spcBef>
            </a:pPr>
            <a:r>
              <a:rPr sz="1800" b="0" i="0">
                <a:solidFill>
                  <a:srgbClr val="262626"/>
                </a:solidFill>
                <a:latin typeface="Calibri"/>
              </a:rPr>
              <a:t>"Revenue at risk" is past spend, not recoverable revenue.</a:t>
            </a:r>
          </a:p>
          <a:p>
            <a:pPr algn="l">
              <a:spcBef>
                <a:spcPts val="800"/>
              </a:spcBef>
            </a:pPr>
            <a:r>
              <a:rPr sz="1800" b="0" i="0">
                <a:solidFill>
                  <a:srgbClr val="262626"/>
                </a:solidFill>
                <a:latin typeface="Calibri"/>
              </a:rPr>
              <a:t>The findings are descriptive, not causal, and the data has no cost, so this is revenue, not profit.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91640"/>
            <a:ext cx="5257800" cy="443484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ading"/>
          <p:cNvSpPr txBox="1"/>
          <p:nvPr/>
        </p:nvSpPr>
        <p:spPr>
          <a:xfrm>
            <a:off x="6583680" y="1874519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C55A11"/>
                </a:solidFill>
                <a:latin typeface="Calibri"/>
              </a:rPr>
              <a:t>What I would do next</a:t>
            </a:r>
          </a:p>
        </p:txBody>
      </p:sp>
      <p:sp>
        <p:nvSpPr>
          <p:cNvPr id="8" name="Next"/>
          <p:cNvSpPr txBox="1"/>
          <p:nvPr/>
        </p:nvSpPr>
        <p:spPr>
          <a:xfrm>
            <a:off x="6583680" y="2377440"/>
            <a:ext cx="475488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262626"/>
                </a:solidFill>
                <a:latin typeface="Calibri"/>
              </a:rPr>
              <a:t>Rebuild the churn model with a time-based split, so it becomes a real forecast.</a:t>
            </a:r>
          </a:p>
          <a:p>
            <a:pPr algn="l">
              <a:spcBef>
                <a:spcPts val="800"/>
              </a:spcBef>
            </a:pPr>
            <a:r>
              <a:rPr sz="1800" b="0" i="0">
                <a:solidFill>
                  <a:srgbClr val="262626"/>
                </a:solidFill>
                <a:latin typeface="Calibri"/>
              </a:rPr>
              <a:t>Test recommendation 1 with a controlled follow-up message.</a:t>
            </a:r>
          </a:p>
          <a:p>
            <a:pPr algn="l">
              <a:spcBef>
                <a:spcPts val="800"/>
              </a:spcBef>
            </a:pPr>
            <a:r>
              <a:rPr sz="1800" b="0" i="0">
                <a:solidFill>
                  <a:srgbClr val="262626"/>
                </a:solidFill>
                <a:latin typeface="Calibri"/>
              </a:rPr>
              <a:t>Replace the fixed 90-day rule with each customer's own ordering rhythm.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F7F7F"/>
                </a:solidFill>
                <a:latin typeface="Calibri"/>
              </a:rPr>
              <a:t>End-To-End Retail Retention Analysis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F7F7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